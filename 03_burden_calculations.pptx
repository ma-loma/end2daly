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Krankheitslast durch Umgebungslärm in Deutschland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Matthias Lochmann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Einführung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Dieses Dokument analysiert die Lärmbelastung in Hessen und berechnet die damit verbundenen Gesundheitsauswirkungen. Die Analyse basiert auf Daten des HLNUG und ETCHE-Funktionen.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Daten laden und vorbereiten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ETCHE-, HLNUG- sowie Destatis Daten laden.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Expositions- und Gemeindedaten zusammenführen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Hier gibts eine breite Tabelle, sollte später noch mehr Richtung saubere Datenbank gepflegt werden.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Gesundheitsauswirkungen berechnen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Funktion zur Berechnung der Gesundheitsauswirkungen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Expositionsdaten und ERF-Funktionen zusammenführen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Um die Umweltbedingte Krankheitslast zu berechnen, braucht healthiar ein dataframe mit Expositionszahlen und ERF zusammen. Das Zusammenführen geschieht hier:</a:t>
            </a:r>
          </a:p>
          <a:p>
            <a:pPr lvl="0" indent="0" marL="0">
              <a:buNone/>
            </a:pPr>
            <a:r>
              <a:rPr/>
              <a:t>Die zusammengeführten Daten haben diese Statistik: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5300"/>
                <a:gridCol w="660400"/>
                <a:gridCol w="990600"/>
                <a:gridCol w="1257300"/>
                <a:gridCol w="1155700"/>
                <a:gridCol w="5461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source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datenquelle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kartierungsumfang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outcome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AnzBelastetenklassen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Belastete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All-cause mortality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381247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Cardiovascular disease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381247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Diabetes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381247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noise annoyance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381247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sleep disturbance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82638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Reading Comprehension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381247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industry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noise annoyance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6336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industry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sleep disturbance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4806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All-cause mortality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688104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Cardiovascular disease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688104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Diabetes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688104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noise annoyance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688104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sleep disturbance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514053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All-cause mortality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8700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2909567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Cardiovascular disease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8700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2909567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Diabetes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8700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2909567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noise annoyance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8700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2909567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sleep disturbance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8700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1800891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All-cause mortality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10387800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Cardiovascular disease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10387800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Diabetes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10387800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noise annoyance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10387800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sleep disturbance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7495900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All-cause mortality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6651200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Cardiovascular disease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6651200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Diabetes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6651200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noise annoyance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6651200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sleep disturbance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4763200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Gesundheitsauswirkungen für verschiedene Lärmquellen berechnen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Hier beispielshaft für einige Gesundheitsauswirkungen, zunächst die für “absolutes Risiko”: HA, HSD, Leseverständnis.</a:t>
            </a:r>
          </a:p>
          <a:p>
            <a:pPr lvl="0" indent="0">
              <a:buNone/>
            </a:pPr>
            <a:r>
              <a:rPr>
                <a:latin typeface="Courier"/>
              </a:rPr>
              <a:t>[1] "hier wird diese Outcome-Liste berücksichtigt:"
# A tibble: 2 × 3
  outcome                source metric
  &lt;chr&gt;                  &lt;chr&gt;  &lt;chr&gt; 
1 High noise annoyance   road   lden  
2 High sleep disturbance road   lnight
[1] "Nun Kombi:"
# A tibble: 1 × 3
  outcome              source metric
  &lt;chr&gt;                &lt;chr&gt;  &lt;chr&gt; 
1 High noise annoyance road   lden  </a:t>
            </a:r>
          </a:p>
          <a:p>
            <a:pPr lvl="0" indent="0">
              <a:buNone/>
            </a:pPr>
            <a:r>
              <a:rPr>
                <a:latin typeface="Courier"/>
              </a:rPr>
              <a:t>[1] "Nun Kombi:"
# A tibble: 1 × 3
  outcome                source metric
  &lt;chr&gt;                  &lt;chr&gt;  &lt;chr&gt; 
1 High sleep disturbance road   lnight</a:t>
            </a:r>
          </a:p>
          <a:p>
            <a:pPr lvl="0" indent="0">
              <a:buNone/>
            </a:pPr>
            <a:r>
              <a:rPr>
                <a:latin typeface="Courier"/>
              </a:rPr>
              <a:t>[1] "hier wird diese Outcome-Liste berücksichtigt:"
# A tibble: 7 × 3
  outcome                source   metric
  &lt;chr&gt;                  &lt;chr&gt;    &lt;chr&gt; 
1 High noise annoyance   road     lden  
2 High sleep disturbance road     lnight
3 High noise annoyance   air      lden  
4 Reading Comprehension  air      lden  
5 High sleep disturbance air      lnight
6 High noise annoyance   industry lden  
7 High sleep disturbance industry lnight
[1] "Nun Kombi:"
# A tibble: 1 × 3
  outcome              source metric
  &lt;chr&gt;                &lt;chr&gt;  &lt;chr&gt; 
1 High noise annoyance road   lden  </a:t>
            </a:r>
          </a:p>
          <a:p>
            <a:pPr lvl="0" indent="0">
              <a:buNone/>
            </a:pPr>
            <a:r>
              <a:rPr>
                <a:latin typeface="Courier"/>
              </a:rPr>
              <a:t>[1] "Nun Kombi:"
# A tibble: 1 × 3
  outcome                source metric
  &lt;chr&gt;                  &lt;chr&gt;  &lt;chr&gt; 
1 High sleep disturbance road   lnight</a:t>
            </a:r>
          </a:p>
          <a:p>
            <a:pPr lvl="0" indent="0">
              <a:buNone/>
            </a:pPr>
            <a:r>
              <a:rPr>
                <a:latin typeface="Courier"/>
              </a:rPr>
              <a:t>[1] "Nun Kombi:"
# A tibble: 1 × 3
  outcome              source metric
  &lt;chr&gt;                &lt;chr&gt;  &lt;chr&gt; 
1 High noise annoyance air    lden  </a:t>
            </a:r>
          </a:p>
          <a:p>
            <a:pPr lvl="0" indent="0">
              <a:buNone/>
            </a:pPr>
            <a:r>
              <a:rPr>
                <a:latin typeface="Courier"/>
              </a:rPr>
              <a:t>[1] "Nun Kombi:"
# A tibble: 1 × 3
  outcome               source metric
  &lt;chr&gt;                 &lt;chr&gt;  &lt;chr&gt; 
1 Reading Comprehension air    lden  </a:t>
            </a:r>
          </a:p>
          <a:p>
            <a:pPr lvl="0" indent="0">
              <a:buNone/>
            </a:pPr>
            <a:r>
              <a:rPr>
                <a:latin typeface="Courier"/>
              </a:rPr>
              <a:t>[1] "Nun Kombi:"
# A tibble: 1 × 3
  outcome                source metric
  &lt;chr&gt;                  &lt;chr&gt;  &lt;chr&gt; 
1 High sleep disturbance air    lnight</a:t>
            </a:r>
          </a:p>
          <a:p>
            <a:pPr lvl="0" indent="0">
              <a:buNone/>
            </a:pPr>
            <a:r>
              <a:rPr>
                <a:latin typeface="Courier"/>
              </a:rPr>
              <a:t>[1] "Nun Kombi:"
# A tibble: 1 × 3
  outcome              source   metric
  &lt;chr&gt;                &lt;chr&gt;    &lt;chr&gt; 
1 High noise annoyance industry lden  </a:t>
            </a:r>
          </a:p>
          <a:p>
            <a:pPr lvl="0" indent="0">
              <a:buNone/>
            </a:pPr>
            <a:r>
              <a:rPr>
                <a:latin typeface="Courier"/>
              </a:rPr>
              <a:t>[1] "Nun Kombi:"
# A tibble: 1 × 3
  outcome                source   metric
  &lt;chr&gt;                  &lt;chr&gt;    &lt;chr&gt; 
1 High sleep disturbance industry lnight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Visualisierungen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Lärmbelastung in Hessen nach Kreisen</a:t>
            </a:r>
          </a:p>
        </p:txBody>
      </p:sp>
      <p:pic>
        <p:nvPicPr>
          <p:cNvPr descr="03_burden_calculations_files/figure-pptx/plot-exposure-hesse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Gesundheitsauswirkungen in Regionen</a:t>
            </a:r>
          </a:p>
        </p:txBody>
      </p:sp>
      <p:pic>
        <p:nvPicPr>
          <p:cNvPr descr="03_burden_calculations_files/figure-pptx/plot-exposure-kreis-gg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81100" y="1193800"/>
            <a:ext cx="6781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A tibble: 2 × 2
  outcome                  DALY
  &lt;chr&gt;                   &lt;dbl&gt;
1 High noise annoyance   21310.
2 High sleep disturbance  5083.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Krankheitslast durch Umgebungslärm in Deutschland</dc:title>
  <dc:creator>Matthias Lochmann</dc:creator>
  <cp:keywords/>
  <dcterms:created xsi:type="dcterms:W3CDTF">2026-04-29T16:08:45Z</dcterms:created>
  <dcterms:modified xsi:type="dcterms:W3CDTF">2026-04-29T16:08:45Z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